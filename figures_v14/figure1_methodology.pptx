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360000" cy="54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16000" y="576000"/>
            <a:ext cx="1296000" cy="576000"/>
          </a:xfrm>
          <a:prstGeom prst="roundRect">
            <a:avLst/>
          </a:prstGeom>
          <a:solidFill>
            <a:srgbClr val="F2F6F8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1">
                <a:solidFill>
                  <a:srgbClr val="1F3B57"/>
                </a:solidFill>
                <a:latin typeface="Calibri"/>
              </a:rPr>
              <a:t>C-MAPSS
FD001-FD004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92000" y="576000"/>
            <a:ext cx="1296000" cy="576000"/>
          </a:xfrm>
          <a:prstGeom prst="roundRect">
            <a:avLst/>
          </a:prstGeom>
          <a:solidFill>
            <a:srgbClr val="F2F6F8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0">
                <a:solidFill>
                  <a:srgbClr val="1F3B57"/>
                </a:solidFill>
                <a:latin typeface="Calibri"/>
              </a:rPr>
              <a:t>Last n cycles
n = 5 / 15 / 30
min-max scaled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68000" y="576000"/>
            <a:ext cx="1512000" cy="576000"/>
          </a:xfrm>
          <a:prstGeom prst="roundRect">
            <a:avLst/>
          </a:prstGeom>
          <a:solidFill>
            <a:srgbClr val="F2F6F8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0">
                <a:solidFill>
                  <a:srgbClr val="1F3B57"/>
                </a:solidFill>
                <a:latin typeface="Calibri"/>
              </a:rPr>
              <a:t>Prompt template
zero-shot / few-shot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60000" y="468000"/>
            <a:ext cx="1655999" cy="792000"/>
          </a:xfrm>
          <a:prstGeom prst="roundRect">
            <a:avLst/>
          </a:prstGeom>
          <a:solidFill>
            <a:srgbClr val="F2F6F8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900" b="0">
                <a:solidFill>
                  <a:srgbClr val="1F3B57"/>
                </a:solidFill>
                <a:latin typeface="Calibri"/>
              </a:rPr>
              <a:t>LLM via Ollama
llama3.1 8B (Q4, Q8)
mistral 7B, qwen2.5 7B
deepseek-r1 7B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96000" y="576000"/>
            <a:ext cx="1224000" cy="576000"/>
          </a:xfrm>
          <a:prstGeom prst="roundRect">
            <a:avLst/>
          </a:prstGeom>
          <a:solidFill>
            <a:srgbClr val="F2F6F8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0">
                <a:solidFill>
                  <a:srgbClr val="1F3B57"/>
                </a:solidFill>
                <a:latin typeface="Calibri"/>
              </a:rPr>
              <a:t>Parse
RUL + reasoning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864000"/>
            <a:ext cx="180000" cy="0"/>
          </a:xfrm>
          <a:prstGeom prst="bentConnector3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988000" y="864000"/>
            <a:ext cx="180000" cy="0"/>
          </a:xfrm>
          <a:prstGeom prst="bentConnector3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680000" y="864000"/>
            <a:ext cx="180000" cy="0"/>
          </a:xfrm>
          <a:prstGeom prst="bentConnector3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516000" y="864000"/>
            <a:ext cx="180000" cy="0"/>
          </a:xfrm>
          <a:prstGeom prst="bentConnector3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40000" y="1404000"/>
            <a:ext cx="936000" cy="360000"/>
          </a:xfrm>
          <a:prstGeom prst="roundRect">
            <a:avLst/>
          </a:prstGeom>
          <a:solidFill>
            <a:srgbClr val="1F3B57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RUL number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96000" y="1908000"/>
            <a:ext cx="936000" cy="360000"/>
          </a:xfrm>
          <a:prstGeom prst="roundRect">
            <a:avLst/>
          </a:prstGeom>
          <a:solidFill>
            <a:srgbClr val="C2553F"/>
          </a:solidFill>
          <a:ln w="12700">
            <a:solidFill>
              <a:srgbClr val="C25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Explanation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63999" y="1152000"/>
            <a:ext cx="0" cy="252000"/>
          </a:xfrm>
          <a:prstGeom prst="bentConnector3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163999" y="1764000"/>
            <a:ext cx="0" cy="144000"/>
          </a:xfrm>
          <a:prstGeom prst="bentConnector3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16000" y="1512000"/>
            <a:ext cx="2772000" cy="46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E8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900" b="0">
                <a:solidFill>
                  <a:srgbClr val="1F3B57"/>
                </a:solidFill>
                <a:latin typeface="Calibri"/>
              </a:rPr>
              <a:t>Baselines on the identical split: constant predictors (train mean, RMSE- and NASA-optimal), random, Random Forest, XGBoost, LSTM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4000" y="1152000"/>
            <a:ext cx="0" cy="360000"/>
          </a:xfrm>
          <a:prstGeom prst="bentConnector3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16000" y="2664000"/>
            <a:ext cx="7560000" cy="288000"/>
          </a:xfrm>
          <a:prstGeom prst="rect">
            <a:avLst/>
          </a:prstGeom>
          <a:solidFill>
            <a:srgbClr val="1F3B57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EVALUATION PROTOCOL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6000" y="2988000"/>
            <a:ext cx="1800000" cy="288000"/>
          </a:xfrm>
          <a:prstGeom prst="rect">
            <a:avLst/>
          </a:prstGeom>
          <a:solidFill>
            <a:srgbClr val="1F3B57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1. No-skill baselines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000" y="3276000"/>
            <a:ext cx="1800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900" b="0">
                <a:solidFill>
                  <a:srgbClr val="1F3B57"/>
                </a:solidFill>
                <a:latin typeface="Calibri"/>
              </a:rPr>
              <a:t>Is the model better than
predicting one constant?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1999" y="2988000"/>
            <a:ext cx="1800000" cy="288000"/>
          </a:xfrm>
          <a:prstGeom prst="rect">
            <a:avLst/>
          </a:prstGeom>
          <a:solidFill>
            <a:srgbClr val="1F3B57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2. Rank correlation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1999" y="3276000"/>
            <a:ext cx="1800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900" b="0">
                <a:solidFill>
                  <a:srgbClr val="1F3B57"/>
                </a:solidFill>
                <a:latin typeface="Calibri"/>
              </a:rPr>
              <a:t>Spearman rho, bootstrap CI,
BH correction. Does it order
the engines?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7999" y="2988000"/>
            <a:ext cx="1800000" cy="288000"/>
          </a:xfrm>
          <a:prstGeom prst="rect">
            <a:avLst/>
          </a:prstGeom>
          <a:solidFill>
            <a:srgbClr val="1F3B57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3. Output entropy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7999" y="3276000"/>
            <a:ext cx="1800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900" b="0">
                <a:solidFill>
                  <a:srgbClr val="1F3B57"/>
                </a:solidFill>
                <a:latin typeface="Calibri"/>
              </a:rPr>
              <a:t>Distinct values and modal
share. Is it regressing or
choosing from a menu?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3999" y="2988000"/>
            <a:ext cx="1800000" cy="288000"/>
          </a:xfrm>
          <a:prstGeom prst="rect">
            <a:avLst/>
          </a:prstGeom>
          <a:solidFill>
            <a:srgbClr val="C2553F"/>
          </a:solidFill>
          <a:ln w="12700">
            <a:solidFill>
              <a:srgbClr val="C25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4. Explanation faithfulness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93999" y="3276000"/>
            <a:ext cx="1800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25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900" b="0">
                <a:solidFill>
                  <a:srgbClr val="1F3B57"/>
                </a:solidFill>
                <a:latin typeface="Calibri"/>
              </a:rPr>
              <a:t>Asserted direction vs
the window actually shown
vs the measured direction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66000" y="4140000"/>
            <a:ext cx="1710000" cy="68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5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/>
            <a:r>
              <a:rPr sz="900" b="0">
                <a:solidFill>
                  <a:srgbClr val="1F3B57"/>
                </a:solidFill>
                <a:latin typeface="Calibri"/>
              </a:rPr>
              <a:t>Controls
- cue removed
- cue inverted
- sensor trends reversed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12000" y="3996000"/>
            <a:ext cx="0" cy="144000"/>
          </a:xfrm>
          <a:prstGeom prst="bentConnector3">
            <a:avLst/>
          </a:prstGeom>
          <a:ln w="15875">
            <a:solidFill>
              <a:srgbClr val="C255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16000" y="4212000"/>
            <a:ext cx="57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i="1" b="0">
                <a:solidFill>
                  <a:srgbClr val="1F3B57"/>
                </a:solidFill>
                <a:latin typeface="Calibri"/>
              </a:rPr>
              <a:t>Parts 1-3 test whether the number carries prognostic information. Part 4 tests whether the text describes the input it was given.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000" y="4500000"/>
            <a:ext cx="57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i="1" b="0">
                <a:solidFill>
                  <a:srgbClr val="1F3B57"/>
                </a:solidFill>
                <a:latin typeface="Calibri"/>
              </a:rPr>
              <a:t>Every arm is paired: same engines, same model, same template - one thing changes at a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