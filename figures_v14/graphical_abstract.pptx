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360000" cy="37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3B57"/>
                </a:solidFill>
                <a:latin typeface="Calibri"/>
              </a:rPr>
              <a:t>Do the explanations describe the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450000"/>
            <a:ext cx="90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8C8C8C"/>
                </a:solidFill>
                <a:latin typeface="Calibri"/>
              </a:rPr>
              <a:t>The same 100 turbofan engines, the same model, the same prompt. Only the direction of every sensor trend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000" y="900000"/>
            <a:ext cx="3024000" cy="2484000"/>
          </a:xfrm>
          <a:prstGeom prst="roundRect">
            <a:avLst/>
          </a:prstGeom>
          <a:solidFill>
            <a:srgbClr val="F2F6F8"/>
          </a:solidFill>
          <a:ln w="15875">
            <a:solidFill>
              <a:srgbClr val="4E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990000"/>
            <a:ext cx="2736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4E8FA8"/>
                </a:solidFill>
                <a:latin typeface="Calibri"/>
              </a:rPr>
              <a:t>ORIGINAL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288800"/>
            <a:ext cx="4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3B57"/>
                </a:solidFill>
                <a:latin typeface="Calibri"/>
              </a:rPr>
              <a:t>s11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64000" y="1332000"/>
            <a:ext cx="936000" cy="198000"/>
          </a:xfrm>
          <a:prstGeom prst="bentConnector3">
            <a:avLst/>
          </a:prstGeom>
          <a:ln w="31750">
            <a:solidFill>
              <a:srgbClr val="4E8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6000" y="1648800"/>
            <a:ext cx="4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3B57"/>
                </a:solidFill>
                <a:latin typeface="Calibri"/>
              </a:rPr>
              <a:t>s9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000" y="1692000"/>
            <a:ext cx="936000" cy="198000"/>
          </a:xfrm>
          <a:prstGeom prst="bentConnector3">
            <a:avLst/>
          </a:prstGeom>
          <a:ln w="31750">
            <a:solidFill>
              <a:srgbClr val="4E8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6000" y="2008800"/>
            <a:ext cx="4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3B57"/>
                </a:solidFill>
                <a:latin typeface="Calibri"/>
              </a:rPr>
              <a:t>s14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000" y="2052000"/>
            <a:ext cx="936000" cy="198000"/>
          </a:xfrm>
          <a:prstGeom prst="bentConnector3">
            <a:avLst/>
          </a:prstGeom>
          <a:ln w="31750">
            <a:solidFill>
              <a:srgbClr val="4E8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6000" y="2484000"/>
            <a:ext cx="2664000" cy="7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6000" y="2556000"/>
            <a:ext cx="2484000" cy="61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1F3B57"/>
                </a:solidFill>
                <a:latin typeface="Calibri"/>
              </a:rPr>
              <a:t>“s11 shows increasing values, indicating advanced wear; s9 and s14 are trending downwards”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48000" y="1944000"/>
            <a:ext cx="576000" cy="396000"/>
          </a:xfrm>
          <a:prstGeom prst="rightArrow">
            <a:avLst/>
          </a:prstGeom>
          <a:solidFill>
            <a:srgbClr val="C2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4000" y="1620000"/>
            <a:ext cx="864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C2553F"/>
                </a:solidFill>
                <a:latin typeface="Calibri"/>
              </a:rPr>
              <a:t>reversed
in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1999" y="900000"/>
            <a:ext cx="3024000" cy="2484000"/>
          </a:xfrm>
          <a:prstGeom prst="roundRect">
            <a:avLst/>
          </a:prstGeom>
          <a:solidFill>
            <a:srgbClr val="F2F6F8"/>
          </a:solidFill>
          <a:ln w="15875">
            <a:solidFill>
              <a:srgbClr val="C2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76000" y="990000"/>
            <a:ext cx="2736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C2553F"/>
                </a:solidFill>
                <a:latin typeface="Calibri"/>
              </a:rPr>
              <a:t>EVERY TREND FLIPPED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2000" y="1288800"/>
            <a:ext cx="4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3B57"/>
                </a:solidFill>
                <a:latin typeface="Calibri"/>
              </a:rPr>
              <a:t>s11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80000" y="1332000"/>
            <a:ext cx="936000" cy="198000"/>
          </a:xfrm>
          <a:prstGeom prst="bentConnector3">
            <a:avLst/>
          </a:prstGeom>
          <a:ln w="31750">
            <a:solidFill>
              <a:srgbClr val="C25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12000" y="1648800"/>
            <a:ext cx="4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3B57"/>
                </a:solidFill>
                <a:latin typeface="Calibri"/>
              </a:rPr>
              <a:t>s9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680000" y="1692000"/>
            <a:ext cx="936000" cy="198000"/>
          </a:xfrm>
          <a:prstGeom prst="bentConnector3">
            <a:avLst/>
          </a:prstGeom>
          <a:ln w="31750">
            <a:solidFill>
              <a:srgbClr val="C25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12000" y="2008800"/>
            <a:ext cx="4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3B57"/>
                </a:solidFill>
                <a:latin typeface="Calibri"/>
              </a:rPr>
              <a:t>s14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80000" y="2052000"/>
            <a:ext cx="936000" cy="198000"/>
          </a:xfrm>
          <a:prstGeom prst="bentConnector3">
            <a:avLst/>
          </a:prstGeom>
          <a:ln w="31750">
            <a:solidFill>
              <a:srgbClr val="C25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12000" y="2484000"/>
            <a:ext cx="2664000" cy="7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5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02000" y="2556000"/>
            <a:ext cx="2484000" cy="61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1F3B57"/>
                </a:solidFill>
                <a:latin typeface="Calibri"/>
              </a:rPr>
              <a:t>“s11 shows increasing values, indicating advanced wear; s9 and s14 are trending downwards”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2000" y="3186000"/>
            <a:ext cx="2664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C2553F"/>
                </a:solidFill>
                <a:latin typeface="Calibri"/>
              </a:rPr>
              <a:t>unchanged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2000" y="900000"/>
            <a:ext cx="1872000" cy="2484000"/>
          </a:xfrm>
          <a:prstGeom prst="roundRect">
            <a:avLst/>
          </a:prstGeom>
          <a:solidFill>
            <a:srgbClr val="1F3B57"/>
          </a:solidFill>
          <a:ln w="15875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43999" y="1188000"/>
            <a:ext cx="17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0000" y="1908000"/>
            <a:ext cx="1655999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of the model's stated sensor directions changed when every trend in the data was reversed.
253 paired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